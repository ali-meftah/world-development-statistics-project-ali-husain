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1"/>
  </p:sldMasterIdLst>
  <p:sldIdLst>
    <p:sldId id="256" r:id="rId2"/>
    <p:sldId id="271" r:id="rId3"/>
    <p:sldId id="280" r:id="rId4"/>
    <p:sldId id="281" r:id="rId5"/>
    <p:sldId id="273" r:id="rId6"/>
    <p:sldId id="278" r:id="rId7"/>
    <p:sldId id="285" r:id="rId8"/>
    <p:sldId id="282" r:id="rId9"/>
    <p:sldId id="272" r:id="rId10"/>
    <p:sldId id="274" r:id="rId11"/>
    <p:sldId id="275" r:id="rId12"/>
    <p:sldId id="283" r:id="rId13"/>
    <p:sldId id="277" r:id="rId14"/>
    <p:sldId id="279" r:id="rId15"/>
    <p:sldId id="28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32"/>
  </p:normalViewPr>
  <p:slideViewPr>
    <p:cSldViewPr snapToGrid="0">
      <p:cViewPr varScale="1">
        <p:scale>
          <a:sx n="105" d="100"/>
          <a:sy n="105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444479B-705B-4489-957E-7E8A228BDFA0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95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50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9504452-5DCC-4FE2-A5C9-8A5EF6714D65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828598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51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232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83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558E7897-33C5-4F1A-9307-D068E37F3DC7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65223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82E171BA-CC09-47C8-A6DF-F5C5CB59CEEC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13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338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44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54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aids.org/sites/default/files/2025-07/2025-global-aids-update-JC3153_en.pdf" TargetMode="External"/><Relationship Id="rId2" Type="http://schemas.openxmlformats.org/officeDocument/2006/relationships/hyperlink" Target="https://www.who.int/news/item/28-03-2025-fully-funded-gavi--the-vaccine-alliance--is-a-lifeline-for-child-survival--says-who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sf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D5EE-D593-B913-EAF1-1A399018D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513" y="2053750"/>
            <a:ext cx="9957858" cy="1253299"/>
          </a:xfrm>
        </p:spPr>
        <p:txBody>
          <a:bodyPr>
            <a:normAutofit/>
          </a:bodyPr>
          <a:lstStyle/>
          <a:p>
            <a:r>
              <a:rPr lang="en-BH" sz="4000" dirty="0"/>
              <a:t>The Global health-wealth gap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6DC71E-D5F0-0DFC-B135-258D1500B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3112" y="4350875"/>
            <a:ext cx="7786158" cy="855483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en-BH" sz="2400" dirty="0"/>
              <a:t>Presented by: </a:t>
            </a:r>
          </a:p>
          <a:p>
            <a:r>
              <a:rPr lang="en-BH" sz="2400" dirty="0"/>
              <a:t>Hussain Ali akbar zainal</a:t>
            </a:r>
          </a:p>
          <a:p>
            <a:pPr algn="ctr"/>
            <a:r>
              <a:rPr lang="en-BH" sz="2400" dirty="0"/>
              <a:t>Ali Hassan Jaffar Meftah</a:t>
            </a:r>
          </a:p>
          <a:p>
            <a:pPr algn="ctr"/>
            <a:endParaRPr lang="en-BH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67B275-7698-57D3-809F-3FD5DFF3C452}"/>
              </a:ext>
            </a:extLst>
          </p:cNvPr>
          <p:cNvSpPr txBox="1">
            <a:spLocks/>
          </p:cNvSpPr>
          <p:nvPr/>
        </p:nvSpPr>
        <p:spPr>
          <a:xfrm>
            <a:off x="1192396" y="3429000"/>
            <a:ext cx="10144092" cy="7315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1" i="0" kern="1200" cap="all" spc="4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1200" dirty="0"/>
              <a:t>A message to the doctors without borders</a:t>
            </a:r>
            <a:endParaRPr lang="en-BH" sz="1100" dirty="0"/>
          </a:p>
        </p:txBody>
      </p:sp>
    </p:spTree>
    <p:extLst>
      <p:ext uri="{BB962C8B-B14F-4D97-AF65-F5344CB8AC3E}">
        <p14:creationId xmlns:p14="http://schemas.microsoft.com/office/powerpoint/2010/main" val="648053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8EA69-2DFA-1274-4973-B8441A18E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518" y="498802"/>
            <a:ext cx="4357499" cy="1320855"/>
          </a:xfrm>
        </p:spPr>
        <p:txBody>
          <a:bodyPr>
            <a:normAutofit fontScale="90000"/>
          </a:bodyPr>
          <a:lstStyle/>
          <a:p>
            <a:r>
              <a:rPr lang="en-BH" sz="6000" dirty="0"/>
              <a:t>The pro</a:t>
            </a:r>
            <a:r>
              <a:rPr lang="en-US" sz="6000" dirty="0"/>
              <a:t>bl</a:t>
            </a:r>
            <a:r>
              <a:rPr lang="en-BH" sz="6000" dirty="0"/>
              <a:t>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2730F-5826-BED8-A544-E50D25A21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518" y="1819657"/>
            <a:ext cx="5075970" cy="445763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As of late, most countries have experienced a surge of GNI, which positively correlates with life expectancy. However, this is not true for a few select countries.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u="sng" dirty="0"/>
              <a:t>In this presentation, we will tackle</a:t>
            </a:r>
            <a:r>
              <a:rPr lang="en-US" sz="1800" b="1" dirty="0"/>
              <a:t>:</a:t>
            </a:r>
          </a:p>
          <a:p>
            <a:pPr>
              <a:lnSpc>
                <a:spcPct val="100000"/>
              </a:lnSpc>
            </a:pPr>
            <a:r>
              <a:rPr lang="en-BH" sz="1800" dirty="0"/>
              <a:t>Does </a:t>
            </a:r>
            <a:r>
              <a:rPr lang="en-BH" sz="1800" b="1" dirty="0"/>
              <a:t>income growth </a:t>
            </a:r>
            <a:r>
              <a:rPr lang="en-BH" sz="1800" dirty="0"/>
              <a:t>translate to longer lives?</a:t>
            </a:r>
          </a:p>
          <a:p>
            <a:pPr>
              <a:lnSpc>
                <a:spcPct val="100000"/>
              </a:lnSpc>
            </a:pPr>
            <a:r>
              <a:rPr lang="en-BH" sz="1800" dirty="0"/>
              <a:t>How has the </a:t>
            </a:r>
            <a:r>
              <a:rPr lang="en-BH" sz="1800" b="1" dirty="0"/>
              <a:t>health gap evolved </a:t>
            </a:r>
            <a:r>
              <a:rPr lang="en-BH" sz="1800" dirty="0"/>
              <a:t>since 1990.</a:t>
            </a:r>
          </a:p>
          <a:p>
            <a:pPr>
              <a:lnSpc>
                <a:spcPct val="100000"/>
              </a:lnSpc>
            </a:pPr>
            <a:r>
              <a:rPr lang="en-BH" sz="1800" dirty="0"/>
              <a:t>What steps can be taken to close the </a:t>
            </a:r>
            <a:r>
              <a:rPr lang="en-BH" sz="1800" b="1" dirty="0"/>
              <a:t>life expectancy gap</a:t>
            </a:r>
            <a:r>
              <a:rPr lang="en-BH" sz="1800" dirty="0"/>
              <a:t>.</a:t>
            </a:r>
          </a:p>
        </p:txBody>
      </p:sp>
      <p:pic>
        <p:nvPicPr>
          <p:cNvPr id="2050" name="Picture 2" descr="Life Expectancy in Low-Income Countries On the Rise">
            <a:extLst>
              <a:ext uri="{FF2B5EF4-FFF2-40B4-BE49-F238E27FC236}">
                <a16:creationId xmlns:a16="http://schemas.microsoft.com/office/drawing/2014/main" id="{91973DE1-F617-2211-EA42-9AF13F07D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5" r="18954"/>
          <a:stretch>
            <a:fillRect/>
          </a:stretch>
        </p:blipFill>
        <p:spPr bwMode="auto">
          <a:xfrm>
            <a:off x="6096000" y="580713"/>
            <a:ext cx="5414304" cy="5407737"/>
          </a:xfrm>
          <a:custGeom>
            <a:avLst/>
            <a:gdLst/>
            <a:ahLst/>
            <a:cxnLst/>
            <a:rect l="l" t="t" r="r" b="b"/>
            <a:pathLst>
              <a:path w="3860171" h="3855489">
                <a:moveTo>
                  <a:pt x="1930086" y="0"/>
                </a:moveTo>
                <a:lnTo>
                  <a:pt x="1967540" y="3511"/>
                </a:lnTo>
                <a:lnTo>
                  <a:pt x="2003824" y="12875"/>
                </a:lnTo>
                <a:lnTo>
                  <a:pt x="2038938" y="26920"/>
                </a:lnTo>
                <a:lnTo>
                  <a:pt x="2075222" y="44477"/>
                </a:lnTo>
                <a:lnTo>
                  <a:pt x="2109166" y="64375"/>
                </a:lnTo>
                <a:lnTo>
                  <a:pt x="2144279" y="85443"/>
                </a:lnTo>
                <a:lnTo>
                  <a:pt x="2179393" y="104171"/>
                </a:lnTo>
                <a:lnTo>
                  <a:pt x="2214507" y="122898"/>
                </a:lnTo>
                <a:lnTo>
                  <a:pt x="2248450" y="136943"/>
                </a:lnTo>
                <a:lnTo>
                  <a:pt x="2285905" y="146307"/>
                </a:lnTo>
                <a:lnTo>
                  <a:pt x="2322189" y="150989"/>
                </a:lnTo>
                <a:lnTo>
                  <a:pt x="2360814" y="150989"/>
                </a:lnTo>
                <a:lnTo>
                  <a:pt x="2400610" y="148648"/>
                </a:lnTo>
                <a:lnTo>
                  <a:pt x="2440405" y="143966"/>
                </a:lnTo>
                <a:lnTo>
                  <a:pt x="2480201" y="138114"/>
                </a:lnTo>
                <a:lnTo>
                  <a:pt x="2519996" y="133432"/>
                </a:lnTo>
                <a:lnTo>
                  <a:pt x="2559792" y="129921"/>
                </a:lnTo>
                <a:lnTo>
                  <a:pt x="2597247" y="131091"/>
                </a:lnTo>
                <a:lnTo>
                  <a:pt x="2633531" y="135773"/>
                </a:lnTo>
                <a:lnTo>
                  <a:pt x="2668644" y="146307"/>
                </a:lnTo>
                <a:lnTo>
                  <a:pt x="2697906" y="161523"/>
                </a:lnTo>
                <a:lnTo>
                  <a:pt x="2725997" y="181421"/>
                </a:lnTo>
                <a:lnTo>
                  <a:pt x="2750577" y="204830"/>
                </a:lnTo>
                <a:lnTo>
                  <a:pt x="2775156" y="231750"/>
                </a:lnTo>
                <a:lnTo>
                  <a:pt x="2797395" y="259841"/>
                </a:lnTo>
                <a:lnTo>
                  <a:pt x="2819634" y="289103"/>
                </a:lnTo>
                <a:lnTo>
                  <a:pt x="2841872" y="318364"/>
                </a:lnTo>
                <a:lnTo>
                  <a:pt x="2864111" y="346455"/>
                </a:lnTo>
                <a:lnTo>
                  <a:pt x="2887520" y="373376"/>
                </a:lnTo>
                <a:lnTo>
                  <a:pt x="2914441" y="396785"/>
                </a:lnTo>
                <a:lnTo>
                  <a:pt x="2940191" y="417853"/>
                </a:lnTo>
                <a:lnTo>
                  <a:pt x="2969452" y="434240"/>
                </a:lnTo>
                <a:lnTo>
                  <a:pt x="3001055" y="448285"/>
                </a:lnTo>
                <a:lnTo>
                  <a:pt x="3034998" y="459990"/>
                </a:lnTo>
                <a:lnTo>
                  <a:pt x="3070112" y="470524"/>
                </a:lnTo>
                <a:lnTo>
                  <a:pt x="3105226" y="479888"/>
                </a:lnTo>
                <a:lnTo>
                  <a:pt x="3141510" y="489251"/>
                </a:lnTo>
                <a:lnTo>
                  <a:pt x="3175453" y="499785"/>
                </a:lnTo>
                <a:lnTo>
                  <a:pt x="3209396" y="511490"/>
                </a:lnTo>
                <a:lnTo>
                  <a:pt x="3240999" y="525535"/>
                </a:lnTo>
                <a:lnTo>
                  <a:pt x="3269090" y="543092"/>
                </a:lnTo>
                <a:lnTo>
                  <a:pt x="3294840" y="564161"/>
                </a:lnTo>
                <a:lnTo>
                  <a:pt x="3315908" y="589911"/>
                </a:lnTo>
                <a:lnTo>
                  <a:pt x="3333465" y="618002"/>
                </a:lnTo>
                <a:lnTo>
                  <a:pt x="3347510" y="649604"/>
                </a:lnTo>
                <a:lnTo>
                  <a:pt x="3359215" y="683547"/>
                </a:lnTo>
                <a:lnTo>
                  <a:pt x="3369749" y="717491"/>
                </a:lnTo>
                <a:lnTo>
                  <a:pt x="3379113" y="753775"/>
                </a:lnTo>
                <a:lnTo>
                  <a:pt x="3388476" y="788889"/>
                </a:lnTo>
                <a:lnTo>
                  <a:pt x="3399010" y="824002"/>
                </a:lnTo>
                <a:lnTo>
                  <a:pt x="3410715" y="857946"/>
                </a:lnTo>
                <a:lnTo>
                  <a:pt x="3424760" y="889548"/>
                </a:lnTo>
                <a:lnTo>
                  <a:pt x="3441147" y="918809"/>
                </a:lnTo>
                <a:lnTo>
                  <a:pt x="3462215" y="944560"/>
                </a:lnTo>
                <a:lnTo>
                  <a:pt x="3485624" y="971480"/>
                </a:lnTo>
                <a:lnTo>
                  <a:pt x="3512545" y="994889"/>
                </a:lnTo>
                <a:lnTo>
                  <a:pt x="3540636" y="1017128"/>
                </a:lnTo>
                <a:lnTo>
                  <a:pt x="3571068" y="1039367"/>
                </a:lnTo>
                <a:lnTo>
                  <a:pt x="3600329" y="1061605"/>
                </a:lnTo>
                <a:lnTo>
                  <a:pt x="3628420" y="1083844"/>
                </a:lnTo>
                <a:lnTo>
                  <a:pt x="3655341" y="1108424"/>
                </a:lnTo>
                <a:lnTo>
                  <a:pt x="3678750" y="1133003"/>
                </a:lnTo>
                <a:lnTo>
                  <a:pt x="3698648" y="1161094"/>
                </a:lnTo>
                <a:lnTo>
                  <a:pt x="3713864" y="1190356"/>
                </a:lnTo>
                <a:lnTo>
                  <a:pt x="3724398" y="1225469"/>
                </a:lnTo>
                <a:lnTo>
                  <a:pt x="3729080" y="1261754"/>
                </a:lnTo>
                <a:lnTo>
                  <a:pt x="3730250" y="1299208"/>
                </a:lnTo>
                <a:lnTo>
                  <a:pt x="3726739" y="1339004"/>
                </a:lnTo>
                <a:lnTo>
                  <a:pt x="3722057" y="1378799"/>
                </a:lnTo>
                <a:lnTo>
                  <a:pt x="3716205" y="1418595"/>
                </a:lnTo>
                <a:lnTo>
                  <a:pt x="3711523" y="1458391"/>
                </a:lnTo>
                <a:lnTo>
                  <a:pt x="3709182" y="1498186"/>
                </a:lnTo>
                <a:lnTo>
                  <a:pt x="3709182" y="1536811"/>
                </a:lnTo>
                <a:lnTo>
                  <a:pt x="3713864" y="1573096"/>
                </a:lnTo>
                <a:lnTo>
                  <a:pt x="3723228" y="1609380"/>
                </a:lnTo>
                <a:lnTo>
                  <a:pt x="3737273" y="1643323"/>
                </a:lnTo>
                <a:lnTo>
                  <a:pt x="3756000" y="1678437"/>
                </a:lnTo>
                <a:lnTo>
                  <a:pt x="3774728" y="1713550"/>
                </a:lnTo>
                <a:lnTo>
                  <a:pt x="3795796" y="1748664"/>
                </a:lnTo>
                <a:lnTo>
                  <a:pt x="3815694" y="1782608"/>
                </a:lnTo>
                <a:lnTo>
                  <a:pt x="3833250" y="1818892"/>
                </a:lnTo>
                <a:lnTo>
                  <a:pt x="3847296" y="1854005"/>
                </a:lnTo>
                <a:lnTo>
                  <a:pt x="3856660" y="1890290"/>
                </a:lnTo>
                <a:lnTo>
                  <a:pt x="3860171" y="1927744"/>
                </a:lnTo>
                <a:lnTo>
                  <a:pt x="3856660" y="1965199"/>
                </a:lnTo>
                <a:lnTo>
                  <a:pt x="3847296" y="2001483"/>
                </a:lnTo>
                <a:lnTo>
                  <a:pt x="3833250" y="2036597"/>
                </a:lnTo>
                <a:lnTo>
                  <a:pt x="3815694" y="2072881"/>
                </a:lnTo>
                <a:lnTo>
                  <a:pt x="3795796" y="2106824"/>
                </a:lnTo>
                <a:lnTo>
                  <a:pt x="3774728" y="2141938"/>
                </a:lnTo>
                <a:lnTo>
                  <a:pt x="3756000" y="2177052"/>
                </a:lnTo>
                <a:lnTo>
                  <a:pt x="3737273" y="2212166"/>
                </a:lnTo>
                <a:lnTo>
                  <a:pt x="3723228" y="2246109"/>
                </a:lnTo>
                <a:lnTo>
                  <a:pt x="3713864" y="2282393"/>
                </a:lnTo>
                <a:lnTo>
                  <a:pt x="3709182" y="2318677"/>
                </a:lnTo>
                <a:lnTo>
                  <a:pt x="3709182" y="2357302"/>
                </a:lnTo>
                <a:lnTo>
                  <a:pt x="3711523" y="2397098"/>
                </a:lnTo>
                <a:lnTo>
                  <a:pt x="3716205" y="2436894"/>
                </a:lnTo>
                <a:lnTo>
                  <a:pt x="3722057" y="2476689"/>
                </a:lnTo>
                <a:lnTo>
                  <a:pt x="3726739" y="2516485"/>
                </a:lnTo>
                <a:lnTo>
                  <a:pt x="3730250" y="2556280"/>
                </a:lnTo>
                <a:lnTo>
                  <a:pt x="3729080" y="2593735"/>
                </a:lnTo>
                <a:lnTo>
                  <a:pt x="3724398" y="2630019"/>
                </a:lnTo>
                <a:lnTo>
                  <a:pt x="3713864" y="2665133"/>
                </a:lnTo>
                <a:lnTo>
                  <a:pt x="3698648" y="2694394"/>
                </a:lnTo>
                <a:lnTo>
                  <a:pt x="3678750" y="2722485"/>
                </a:lnTo>
                <a:lnTo>
                  <a:pt x="3655341" y="2747065"/>
                </a:lnTo>
                <a:lnTo>
                  <a:pt x="3628420" y="2771645"/>
                </a:lnTo>
                <a:lnTo>
                  <a:pt x="3600329" y="2793883"/>
                </a:lnTo>
                <a:lnTo>
                  <a:pt x="3571068" y="2816122"/>
                </a:lnTo>
                <a:lnTo>
                  <a:pt x="3540636" y="2838361"/>
                </a:lnTo>
                <a:lnTo>
                  <a:pt x="3512545" y="2860599"/>
                </a:lnTo>
                <a:lnTo>
                  <a:pt x="3485624" y="2884009"/>
                </a:lnTo>
                <a:lnTo>
                  <a:pt x="3462215" y="2910929"/>
                </a:lnTo>
                <a:lnTo>
                  <a:pt x="3441147" y="2936679"/>
                </a:lnTo>
                <a:lnTo>
                  <a:pt x="3424760" y="2965941"/>
                </a:lnTo>
                <a:lnTo>
                  <a:pt x="3410715" y="2997543"/>
                </a:lnTo>
                <a:lnTo>
                  <a:pt x="3399010" y="3031486"/>
                </a:lnTo>
                <a:lnTo>
                  <a:pt x="3388476" y="3066600"/>
                </a:lnTo>
                <a:lnTo>
                  <a:pt x="3379113" y="3101714"/>
                </a:lnTo>
                <a:lnTo>
                  <a:pt x="3369749" y="3137998"/>
                </a:lnTo>
                <a:lnTo>
                  <a:pt x="3359215" y="3171941"/>
                </a:lnTo>
                <a:lnTo>
                  <a:pt x="3347510" y="3205885"/>
                </a:lnTo>
                <a:lnTo>
                  <a:pt x="3333465" y="3237487"/>
                </a:lnTo>
                <a:lnTo>
                  <a:pt x="3315908" y="3265578"/>
                </a:lnTo>
                <a:lnTo>
                  <a:pt x="3294840" y="3291328"/>
                </a:lnTo>
                <a:lnTo>
                  <a:pt x="3269090" y="3312396"/>
                </a:lnTo>
                <a:lnTo>
                  <a:pt x="3240999" y="3329953"/>
                </a:lnTo>
                <a:lnTo>
                  <a:pt x="3209396" y="3343999"/>
                </a:lnTo>
                <a:lnTo>
                  <a:pt x="3175453" y="3355703"/>
                </a:lnTo>
                <a:lnTo>
                  <a:pt x="3141510" y="3366237"/>
                </a:lnTo>
                <a:lnTo>
                  <a:pt x="3105226" y="3375601"/>
                </a:lnTo>
                <a:lnTo>
                  <a:pt x="3070112" y="3384965"/>
                </a:lnTo>
                <a:lnTo>
                  <a:pt x="3034998" y="3395499"/>
                </a:lnTo>
                <a:lnTo>
                  <a:pt x="3001055" y="3407203"/>
                </a:lnTo>
                <a:lnTo>
                  <a:pt x="2969452" y="3421249"/>
                </a:lnTo>
                <a:lnTo>
                  <a:pt x="2940191" y="3437635"/>
                </a:lnTo>
                <a:lnTo>
                  <a:pt x="2914441" y="3458704"/>
                </a:lnTo>
                <a:lnTo>
                  <a:pt x="2887520" y="3482113"/>
                </a:lnTo>
                <a:lnTo>
                  <a:pt x="2864111" y="3509033"/>
                </a:lnTo>
                <a:lnTo>
                  <a:pt x="2841872" y="3537124"/>
                </a:lnTo>
                <a:lnTo>
                  <a:pt x="2819634" y="3566386"/>
                </a:lnTo>
                <a:lnTo>
                  <a:pt x="2797395" y="3595647"/>
                </a:lnTo>
                <a:lnTo>
                  <a:pt x="2775156" y="3623738"/>
                </a:lnTo>
                <a:lnTo>
                  <a:pt x="2750577" y="3650659"/>
                </a:lnTo>
                <a:lnTo>
                  <a:pt x="2725997" y="3674068"/>
                </a:lnTo>
                <a:lnTo>
                  <a:pt x="2697906" y="3693966"/>
                </a:lnTo>
                <a:lnTo>
                  <a:pt x="2668644" y="3709182"/>
                </a:lnTo>
                <a:lnTo>
                  <a:pt x="2633531" y="3719716"/>
                </a:lnTo>
                <a:lnTo>
                  <a:pt x="2597247" y="3724398"/>
                </a:lnTo>
                <a:lnTo>
                  <a:pt x="2559792" y="3725568"/>
                </a:lnTo>
                <a:lnTo>
                  <a:pt x="2519996" y="3722057"/>
                </a:lnTo>
                <a:lnTo>
                  <a:pt x="2480201" y="3717375"/>
                </a:lnTo>
                <a:lnTo>
                  <a:pt x="2440405" y="3711523"/>
                </a:lnTo>
                <a:lnTo>
                  <a:pt x="2400610" y="3706841"/>
                </a:lnTo>
                <a:lnTo>
                  <a:pt x="2360814" y="3704500"/>
                </a:lnTo>
                <a:lnTo>
                  <a:pt x="2322189" y="3704500"/>
                </a:lnTo>
                <a:lnTo>
                  <a:pt x="2285905" y="3709182"/>
                </a:lnTo>
                <a:lnTo>
                  <a:pt x="2248450" y="3718545"/>
                </a:lnTo>
                <a:lnTo>
                  <a:pt x="2214507" y="3732591"/>
                </a:lnTo>
                <a:lnTo>
                  <a:pt x="2179393" y="3751318"/>
                </a:lnTo>
                <a:lnTo>
                  <a:pt x="2144279" y="3770045"/>
                </a:lnTo>
                <a:lnTo>
                  <a:pt x="2109166" y="3791114"/>
                </a:lnTo>
                <a:lnTo>
                  <a:pt x="2075222" y="3811011"/>
                </a:lnTo>
                <a:lnTo>
                  <a:pt x="2038938" y="3828568"/>
                </a:lnTo>
                <a:lnTo>
                  <a:pt x="2003824" y="3842614"/>
                </a:lnTo>
                <a:lnTo>
                  <a:pt x="1967540" y="3851978"/>
                </a:lnTo>
                <a:lnTo>
                  <a:pt x="1930086" y="3855489"/>
                </a:lnTo>
                <a:lnTo>
                  <a:pt x="1892631" y="3851978"/>
                </a:lnTo>
                <a:lnTo>
                  <a:pt x="1856347" y="3842614"/>
                </a:lnTo>
                <a:lnTo>
                  <a:pt x="1821233" y="3828568"/>
                </a:lnTo>
                <a:lnTo>
                  <a:pt x="1784949" y="3811011"/>
                </a:lnTo>
                <a:lnTo>
                  <a:pt x="1751005" y="3791114"/>
                </a:lnTo>
                <a:lnTo>
                  <a:pt x="1715892" y="3770045"/>
                </a:lnTo>
                <a:lnTo>
                  <a:pt x="1680778" y="3751318"/>
                </a:lnTo>
                <a:lnTo>
                  <a:pt x="1645664" y="3732591"/>
                </a:lnTo>
                <a:lnTo>
                  <a:pt x="1610550" y="3718545"/>
                </a:lnTo>
                <a:lnTo>
                  <a:pt x="1574266" y="3709182"/>
                </a:lnTo>
                <a:lnTo>
                  <a:pt x="1537982" y="3704500"/>
                </a:lnTo>
                <a:lnTo>
                  <a:pt x="1499357" y="3704500"/>
                </a:lnTo>
                <a:lnTo>
                  <a:pt x="1459561" y="3706841"/>
                </a:lnTo>
                <a:lnTo>
                  <a:pt x="1419766" y="3711523"/>
                </a:lnTo>
                <a:lnTo>
                  <a:pt x="1379970" y="3717375"/>
                </a:lnTo>
                <a:lnTo>
                  <a:pt x="1340175" y="3722057"/>
                </a:lnTo>
                <a:lnTo>
                  <a:pt x="1300379" y="3725568"/>
                </a:lnTo>
                <a:lnTo>
                  <a:pt x="1262924" y="3724398"/>
                </a:lnTo>
                <a:lnTo>
                  <a:pt x="1226640" y="3719716"/>
                </a:lnTo>
                <a:lnTo>
                  <a:pt x="1191526" y="3709182"/>
                </a:lnTo>
                <a:lnTo>
                  <a:pt x="1162265" y="3693966"/>
                </a:lnTo>
                <a:lnTo>
                  <a:pt x="1134174" y="3674068"/>
                </a:lnTo>
                <a:lnTo>
                  <a:pt x="1109594" y="3650659"/>
                </a:lnTo>
                <a:lnTo>
                  <a:pt x="1085015" y="3623738"/>
                </a:lnTo>
                <a:lnTo>
                  <a:pt x="1062776" y="3595647"/>
                </a:lnTo>
                <a:lnTo>
                  <a:pt x="1040537" y="3566386"/>
                </a:lnTo>
                <a:lnTo>
                  <a:pt x="1018299" y="3537124"/>
                </a:lnTo>
                <a:lnTo>
                  <a:pt x="996060" y="3509033"/>
                </a:lnTo>
                <a:lnTo>
                  <a:pt x="972651" y="3482113"/>
                </a:lnTo>
                <a:lnTo>
                  <a:pt x="945730" y="3458704"/>
                </a:lnTo>
                <a:lnTo>
                  <a:pt x="919980" y="3437635"/>
                </a:lnTo>
                <a:lnTo>
                  <a:pt x="890719" y="3421249"/>
                </a:lnTo>
                <a:lnTo>
                  <a:pt x="859116" y="3407203"/>
                </a:lnTo>
                <a:lnTo>
                  <a:pt x="825173" y="3395499"/>
                </a:lnTo>
                <a:lnTo>
                  <a:pt x="790059" y="3384965"/>
                </a:lnTo>
                <a:lnTo>
                  <a:pt x="754946" y="3375601"/>
                </a:lnTo>
                <a:lnTo>
                  <a:pt x="718662" y="3366237"/>
                </a:lnTo>
                <a:lnTo>
                  <a:pt x="684718" y="3355703"/>
                </a:lnTo>
                <a:lnTo>
                  <a:pt x="650775" y="3343999"/>
                </a:lnTo>
                <a:lnTo>
                  <a:pt x="619173" y="3329953"/>
                </a:lnTo>
                <a:lnTo>
                  <a:pt x="591082" y="3312396"/>
                </a:lnTo>
                <a:lnTo>
                  <a:pt x="565332" y="3291328"/>
                </a:lnTo>
                <a:lnTo>
                  <a:pt x="544263" y="3265578"/>
                </a:lnTo>
                <a:lnTo>
                  <a:pt x="526706" y="3237487"/>
                </a:lnTo>
                <a:lnTo>
                  <a:pt x="512661" y="3205885"/>
                </a:lnTo>
                <a:lnTo>
                  <a:pt x="500956" y="3171941"/>
                </a:lnTo>
                <a:lnTo>
                  <a:pt x="490422" y="3137998"/>
                </a:lnTo>
                <a:lnTo>
                  <a:pt x="481059" y="3101714"/>
                </a:lnTo>
                <a:lnTo>
                  <a:pt x="471695" y="3066600"/>
                </a:lnTo>
                <a:lnTo>
                  <a:pt x="461161" y="3031486"/>
                </a:lnTo>
                <a:lnTo>
                  <a:pt x="449456" y="2997543"/>
                </a:lnTo>
                <a:lnTo>
                  <a:pt x="435411" y="2965941"/>
                </a:lnTo>
                <a:lnTo>
                  <a:pt x="419024" y="2936679"/>
                </a:lnTo>
                <a:lnTo>
                  <a:pt x="397956" y="2910929"/>
                </a:lnTo>
                <a:lnTo>
                  <a:pt x="374547" y="2884009"/>
                </a:lnTo>
                <a:lnTo>
                  <a:pt x="347626" y="2860599"/>
                </a:lnTo>
                <a:lnTo>
                  <a:pt x="318365" y="2838361"/>
                </a:lnTo>
                <a:lnTo>
                  <a:pt x="289103" y="2816122"/>
                </a:lnTo>
                <a:lnTo>
                  <a:pt x="259842" y="2793883"/>
                </a:lnTo>
                <a:lnTo>
                  <a:pt x="231751" y="2771645"/>
                </a:lnTo>
                <a:lnTo>
                  <a:pt x="204830" y="2747065"/>
                </a:lnTo>
                <a:lnTo>
                  <a:pt x="181421" y="2722485"/>
                </a:lnTo>
                <a:lnTo>
                  <a:pt x="161523" y="2694394"/>
                </a:lnTo>
                <a:lnTo>
                  <a:pt x="146308" y="2665133"/>
                </a:lnTo>
                <a:lnTo>
                  <a:pt x="135773" y="2630019"/>
                </a:lnTo>
                <a:lnTo>
                  <a:pt x="131092" y="2593735"/>
                </a:lnTo>
                <a:lnTo>
                  <a:pt x="129921" y="2556280"/>
                </a:lnTo>
                <a:lnTo>
                  <a:pt x="133432" y="2516485"/>
                </a:lnTo>
                <a:lnTo>
                  <a:pt x="138114" y="2476689"/>
                </a:lnTo>
                <a:lnTo>
                  <a:pt x="143967" y="2436894"/>
                </a:lnTo>
                <a:lnTo>
                  <a:pt x="148648" y="2397098"/>
                </a:lnTo>
                <a:lnTo>
                  <a:pt x="150989" y="2357302"/>
                </a:lnTo>
                <a:lnTo>
                  <a:pt x="150989" y="2318677"/>
                </a:lnTo>
                <a:lnTo>
                  <a:pt x="146308" y="2282393"/>
                </a:lnTo>
                <a:lnTo>
                  <a:pt x="136944" y="2246109"/>
                </a:lnTo>
                <a:lnTo>
                  <a:pt x="122898" y="2212166"/>
                </a:lnTo>
                <a:lnTo>
                  <a:pt x="105341" y="2177052"/>
                </a:lnTo>
                <a:lnTo>
                  <a:pt x="85444" y="2141938"/>
                </a:lnTo>
                <a:lnTo>
                  <a:pt x="64375" y="2106824"/>
                </a:lnTo>
                <a:lnTo>
                  <a:pt x="44478" y="2072881"/>
                </a:lnTo>
                <a:lnTo>
                  <a:pt x="26921" y="2036597"/>
                </a:lnTo>
                <a:lnTo>
                  <a:pt x="12875" y="2001483"/>
                </a:lnTo>
                <a:lnTo>
                  <a:pt x="3512" y="1965199"/>
                </a:lnTo>
                <a:lnTo>
                  <a:pt x="0" y="1927744"/>
                </a:lnTo>
                <a:lnTo>
                  <a:pt x="3512" y="1890290"/>
                </a:lnTo>
                <a:lnTo>
                  <a:pt x="12875" y="1854005"/>
                </a:lnTo>
                <a:lnTo>
                  <a:pt x="26921" y="1818892"/>
                </a:lnTo>
                <a:lnTo>
                  <a:pt x="44478" y="1782608"/>
                </a:lnTo>
                <a:lnTo>
                  <a:pt x="64375" y="1748664"/>
                </a:lnTo>
                <a:lnTo>
                  <a:pt x="85444" y="1713550"/>
                </a:lnTo>
                <a:lnTo>
                  <a:pt x="105341" y="1678437"/>
                </a:lnTo>
                <a:lnTo>
                  <a:pt x="122898" y="1643323"/>
                </a:lnTo>
                <a:lnTo>
                  <a:pt x="136944" y="1609380"/>
                </a:lnTo>
                <a:lnTo>
                  <a:pt x="146308" y="1573096"/>
                </a:lnTo>
                <a:lnTo>
                  <a:pt x="150989" y="1536811"/>
                </a:lnTo>
                <a:lnTo>
                  <a:pt x="150989" y="1498186"/>
                </a:lnTo>
                <a:lnTo>
                  <a:pt x="148648" y="1458391"/>
                </a:lnTo>
                <a:lnTo>
                  <a:pt x="143967" y="1418595"/>
                </a:lnTo>
                <a:lnTo>
                  <a:pt x="138114" y="1378799"/>
                </a:lnTo>
                <a:lnTo>
                  <a:pt x="133432" y="1339004"/>
                </a:lnTo>
                <a:lnTo>
                  <a:pt x="129921" y="1299208"/>
                </a:lnTo>
                <a:lnTo>
                  <a:pt x="131092" y="1261754"/>
                </a:lnTo>
                <a:lnTo>
                  <a:pt x="135773" y="1225469"/>
                </a:lnTo>
                <a:lnTo>
                  <a:pt x="146308" y="1190356"/>
                </a:lnTo>
                <a:lnTo>
                  <a:pt x="161523" y="1161094"/>
                </a:lnTo>
                <a:lnTo>
                  <a:pt x="181421" y="1133003"/>
                </a:lnTo>
                <a:lnTo>
                  <a:pt x="204830" y="1108424"/>
                </a:lnTo>
                <a:lnTo>
                  <a:pt x="231751" y="1083844"/>
                </a:lnTo>
                <a:lnTo>
                  <a:pt x="259842" y="1061605"/>
                </a:lnTo>
                <a:lnTo>
                  <a:pt x="289103" y="1039367"/>
                </a:lnTo>
                <a:lnTo>
                  <a:pt x="318365" y="1017128"/>
                </a:lnTo>
                <a:lnTo>
                  <a:pt x="347626" y="994889"/>
                </a:lnTo>
                <a:lnTo>
                  <a:pt x="374547" y="971480"/>
                </a:lnTo>
                <a:lnTo>
                  <a:pt x="397956" y="944560"/>
                </a:lnTo>
                <a:lnTo>
                  <a:pt x="419024" y="918809"/>
                </a:lnTo>
                <a:lnTo>
                  <a:pt x="435411" y="889548"/>
                </a:lnTo>
                <a:lnTo>
                  <a:pt x="449456" y="857946"/>
                </a:lnTo>
                <a:lnTo>
                  <a:pt x="461161" y="824002"/>
                </a:lnTo>
                <a:lnTo>
                  <a:pt x="471695" y="788889"/>
                </a:lnTo>
                <a:lnTo>
                  <a:pt x="481059" y="753775"/>
                </a:lnTo>
                <a:lnTo>
                  <a:pt x="490422" y="717491"/>
                </a:lnTo>
                <a:lnTo>
                  <a:pt x="500956" y="683547"/>
                </a:lnTo>
                <a:lnTo>
                  <a:pt x="512661" y="649604"/>
                </a:lnTo>
                <a:lnTo>
                  <a:pt x="526706" y="618002"/>
                </a:lnTo>
                <a:lnTo>
                  <a:pt x="544263" y="589911"/>
                </a:lnTo>
                <a:lnTo>
                  <a:pt x="565332" y="564161"/>
                </a:lnTo>
                <a:lnTo>
                  <a:pt x="591082" y="543092"/>
                </a:lnTo>
                <a:lnTo>
                  <a:pt x="619173" y="525535"/>
                </a:lnTo>
                <a:lnTo>
                  <a:pt x="650775" y="511490"/>
                </a:lnTo>
                <a:lnTo>
                  <a:pt x="684718" y="499785"/>
                </a:lnTo>
                <a:lnTo>
                  <a:pt x="718662" y="489251"/>
                </a:lnTo>
                <a:lnTo>
                  <a:pt x="754946" y="479888"/>
                </a:lnTo>
                <a:lnTo>
                  <a:pt x="790059" y="470524"/>
                </a:lnTo>
                <a:lnTo>
                  <a:pt x="825173" y="459990"/>
                </a:lnTo>
                <a:lnTo>
                  <a:pt x="859116" y="448285"/>
                </a:lnTo>
                <a:lnTo>
                  <a:pt x="890719" y="434240"/>
                </a:lnTo>
                <a:lnTo>
                  <a:pt x="919980" y="417853"/>
                </a:lnTo>
                <a:lnTo>
                  <a:pt x="945730" y="396785"/>
                </a:lnTo>
                <a:lnTo>
                  <a:pt x="972651" y="373376"/>
                </a:lnTo>
                <a:lnTo>
                  <a:pt x="996060" y="346455"/>
                </a:lnTo>
                <a:lnTo>
                  <a:pt x="1018299" y="318364"/>
                </a:lnTo>
                <a:lnTo>
                  <a:pt x="1040537" y="289103"/>
                </a:lnTo>
                <a:lnTo>
                  <a:pt x="1062776" y="259841"/>
                </a:lnTo>
                <a:lnTo>
                  <a:pt x="1085015" y="231750"/>
                </a:lnTo>
                <a:lnTo>
                  <a:pt x="1109594" y="204830"/>
                </a:lnTo>
                <a:lnTo>
                  <a:pt x="1134174" y="181421"/>
                </a:lnTo>
                <a:lnTo>
                  <a:pt x="1162265" y="161523"/>
                </a:lnTo>
                <a:lnTo>
                  <a:pt x="1191526" y="146307"/>
                </a:lnTo>
                <a:lnTo>
                  <a:pt x="1226640" y="135773"/>
                </a:lnTo>
                <a:lnTo>
                  <a:pt x="1262924" y="131091"/>
                </a:lnTo>
                <a:lnTo>
                  <a:pt x="1300379" y="129921"/>
                </a:lnTo>
                <a:lnTo>
                  <a:pt x="1340175" y="133432"/>
                </a:lnTo>
                <a:lnTo>
                  <a:pt x="1379970" y="138114"/>
                </a:lnTo>
                <a:lnTo>
                  <a:pt x="1419766" y="143966"/>
                </a:lnTo>
                <a:lnTo>
                  <a:pt x="1459561" y="148648"/>
                </a:lnTo>
                <a:lnTo>
                  <a:pt x="1499357" y="150989"/>
                </a:lnTo>
                <a:lnTo>
                  <a:pt x="1537982" y="150989"/>
                </a:lnTo>
                <a:lnTo>
                  <a:pt x="1574266" y="146307"/>
                </a:lnTo>
                <a:lnTo>
                  <a:pt x="1610550" y="136943"/>
                </a:lnTo>
                <a:lnTo>
                  <a:pt x="1645664" y="122898"/>
                </a:lnTo>
                <a:lnTo>
                  <a:pt x="1680778" y="104171"/>
                </a:lnTo>
                <a:lnTo>
                  <a:pt x="1715892" y="85443"/>
                </a:lnTo>
                <a:lnTo>
                  <a:pt x="1751005" y="64375"/>
                </a:lnTo>
                <a:lnTo>
                  <a:pt x="1784949" y="44477"/>
                </a:lnTo>
                <a:lnTo>
                  <a:pt x="1821233" y="26920"/>
                </a:lnTo>
                <a:lnTo>
                  <a:pt x="1856347" y="12875"/>
                </a:lnTo>
                <a:lnTo>
                  <a:pt x="1892631" y="351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279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D60A70-F9C8-44BA-86E4-34A92A8FB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3C72F-67D8-4C89-42CC-27AD0D8EA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007" y="502867"/>
            <a:ext cx="3768377" cy="1640894"/>
          </a:xfrm>
        </p:spPr>
        <p:txBody>
          <a:bodyPr anchor="t">
            <a:normAutofit/>
          </a:bodyPr>
          <a:lstStyle/>
          <a:p>
            <a:r>
              <a:rPr lang="en-US" sz="4800" dirty="0"/>
              <a:t>You, the audience</a:t>
            </a:r>
            <a:endParaRPr lang="en-BH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00806-2EE6-5955-78D8-2F4F0E2B4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279" y="2143760"/>
            <a:ext cx="4027793" cy="4366768"/>
          </a:xfrm>
        </p:spPr>
        <p:txBody>
          <a:bodyPr>
            <a:normAutofit/>
          </a:bodyPr>
          <a:lstStyle/>
          <a:p>
            <a:pPr fontAlgn="base">
              <a:lnSpc>
                <a:spcPct val="100000"/>
              </a:lnSpc>
            </a:pPr>
            <a:r>
              <a:rPr lang="en-US" sz="1800" dirty="0"/>
              <a:t>You are all representatives of </a:t>
            </a:r>
            <a:r>
              <a:rPr lang="en-US" sz="1800" b="1" dirty="0"/>
              <a:t>MSF</a:t>
            </a:r>
            <a:r>
              <a:rPr lang="en-US" sz="1800" dirty="0"/>
              <a:t>, also known as the “</a:t>
            </a:r>
            <a:r>
              <a:rPr lang="en-US" sz="1800" b="1" dirty="0"/>
              <a:t>Doctors Without Borders</a:t>
            </a:r>
            <a:r>
              <a:rPr lang="en-US" sz="1800" dirty="0"/>
              <a:t>”.</a:t>
            </a:r>
          </a:p>
          <a:p>
            <a:pPr fontAlgn="base">
              <a:lnSpc>
                <a:spcPct val="100000"/>
              </a:lnSpc>
            </a:pPr>
            <a:r>
              <a:rPr lang="en-US" sz="1800" dirty="0"/>
              <a:t>You provide independent, free-of-charge medical humanitarian assistance in over </a:t>
            </a:r>
            <a:r>
              <a:rPr lang="en-US" sz="1800" b="1" dirty="0"/>
              <a:t>75 countries</a:t>
            </a:r>
            <a:r>
              <a:rPr lang="en-US" sz="1800" dirty="0"/>
              <a:t>.</a:t>
            </a:r>
            <a:br>
              <a:rPr lang="en-US" sz="1800" dirty="0"/>
            </a:br>
            <a:endParaRPr lang="en-US" sz="1800" dirty="0"/>
          </a:p>
          <a:p>
            <a:pPr fontAlgn="base">
              <a:lnSpc>
                <a:spcPct val="100000"/>
              </a:lnSpc>
            </a:pPr>
            <a:r>
              <a:rPr lang="en-US" sz="1600" dirty="0"/>
              <a:t>Emergency Response</a:t>
            </a:r>
          </a:p>
          <a:p>
            <a:pPr fontAlgn="base">
              <a:lnSpc>
                <a:spcPct val="100000"/>
              </a:lnSpc>
            </a:pPr>
            <a:r>
              <a:rPr lang="en-US" sz="1600" dirty="0"/>
              <a:t>Epidemic Control</a:t>
            </a:r>
          </a:p>
          <a:p>
            <a:pPr fontAlgn="base">
              <a:lnSpc>
                <a:spcPct val="100000"/>
              </a:lnSpc>
            </a:pPr>
            <a:r>
              <a:rPr lang="en-US" sz="1600" dirty="0"/>
              <a:t>Refugee and Migrant Care</a:t>
            </a:r>
          </a:p>
          <a:p>
            <a:pPr fontAlgn="base">
              <a:lnSpc>
                <a:spcPct val="100000"/>
              </a:lnSpc>
            </a:pPr>
            <a:r>
              <a:rPr lang="en-US" sz="1600" dirty="0"/>
              <a:t>Primary Healthcare</a:t>
            </a:r>
          </a:p>
          <a:p>
            <a:pPr fontAlgn="base">
              <a:lnSpc>
                <a:spcPct val="100000"/>
              </a:lnSpc>
            </a:pPr>
            <a:r>
              <a:rPr lang="en-US" sz="1600" dirty="0"/>
              <a:t>Women &amp; Children’s health</a:t>
            </a:r>
          </a:p>
          <a:p>
            <a:pPr fontAlgn="base">
              <a:lnSpc>
                <a:spcPct val="100000"/>
              </a:lnSpc>
            </a:pPr>
            <a:r>
              <a:rPr lang="en-US" sz="1600" dirty="0"/>
              <a:t>And much more.</a:t>
            </a:r>
          </a:p>
          <a:p>
            <a:pPr fontAlgn="base"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BH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AA7788B-824F-F4D6-3199-FC192F44C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6" r="16823" b="-2"/>
          <a:stretch>
            <a:fillRect/>
          </a:stretch>
        </p:blipFill>
        <p:spPr bwMode="auto">
          <a:xfrm>
            <a:off x="5279472" y="645107"/>
            <a:ext cx="5995465" cy="559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90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2167B-2E76-82CF-FFB2-D0A169595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6502-6E3D-BF48-4A44-F5BC6A948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4"/>
            <a:ext cx="10178322" cy="5218315"/>
          </a:xfrm>
        </p:spPr>
        <p:txBody>
          <a:bodyPr/>
          <a:lstStyle/>
          <a:p>
            <a:pPr algn="ctr"/>
            <a:br>
              <a:rPr lang="en-BH" dirty="0"/>
            </a:br>
            <a:br>
              <a:rPr lang="en-BH" dirty="0"/>
            </a:br>
            <a:br>
              <a:rPr lang="en-BH" dirty="0"/>
            </a:br>
            <a:br>
              <a:rPr lang="en-BH" dirty="0"/>
            </a:br>
            <a:r>
              <a:rPr lang="en-US" dirty="0"/>
              <a:t>the life expectancy divide</a:t>
            </a:r>
            <a:endParaRPr lang="en-BH" dirty="0"/>
          </a:p>
        </p:txBody>
      </p:sp>
    </p:spTree>
    <p:extLst>
      <p:ext uri="{BB962C8B-B14F-4D97-AF65-F5344CB8AC3E}">
        <p14:creationId xmlns:p14="http://schemas.microsoft.com/office/powerpoint/2010/main" val="181185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00024-6BD1-B374-2A95-086573108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H" dirty="0"/>
              <a:t>Life Expectancy by income status</a:t>
            </a:r>
          </a:p>
        </p:txBody>
      </p:sp>
      <p:pic>
        <p:nvPicPr>
          <p:cNvPr id="5" name="Content Placeholder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8243CAA0-673B-F657-BFC3-D3FE0AC1C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2806" y="1425956"/>
            <a:ext cx="10192814" cy="45633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2506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1DCB5-D7E2-DF5D-074F-A2073D71E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H" dirty="0"/>
              <a:t>Life Expectancy gap</a:t>
            </a:r>
          </a:p>
        </p:txBody>
      </p:sp>
      <p:pic>
        <p:nvPicPr>
          <p:cNvPr id="5" name="Content Placeholder 4" descr="A graph of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C3955C70-91A9-7732-61EF-2D9029F7ED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2896" y="1515046"/>
            <a:ext cx="10635285" cy="42731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6391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C0ABE-B74B-7283-FC9D-8A39A4A3A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812FC-2639-3D58-F5CD-30156685D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These countries are in need</a:t>
            </a:r>
            <a:endParaRPr lang="en-BH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E094360-A530-8142-DB3D-2A42BFC32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251" y="1246131"/>
            <a:ext cx="9206071" cy="52294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1572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7275F-D4E7-6AB1-D452-F8B40E540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1160B-7B0C-0933-7F3A-CB698D3C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4"/>
            <a:ext cx="10178322" cy="5218315"/>
          </a:xfrm>
        </p:spPr>
        <p:txBody>
          <a:bodyPr/>
          <a:lstStyle/>
          <a:p>
            <a:pPr algn="ctr"/>
            <a:br>
              <a:rPr lang="en-BH" dirty="0"/>
            </a:br>
            <a:br>
              <a:rPr lang="en-BH" dirty="0"/>
            </a:br>
            <a:br>
              <a:rPr lang="en-BH" dirty="0"/>
            </a:br>
            <a:br>
              <a:rPr lang="en-BH" dirty="0"/>
            </a:br>
            <a:r>
              <a:rPr lang="en-US" dirty="0"/>
              <a:t>there is some good news</a:t>
            </a:r>
            <a:endParaRPr lang="en-BH" dirty="0"/>
          </a:p>
        </p:txBody>
      </p:sp>
    </p:spTree>
    <p:extLst>
      <p:ext uri="{BB962C8B-B14F-4D97-AF65-F5344CB8AC3E}">
        <p14:creationId xmlns:p14="http://schemas.microsoft.com/office/powerpoint/2010/main" val="2894105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17572-F776-7598-454C-35131A39C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</a:t>
            </a:r>
            <a:r>
              <a:rPr lang="en-BH" dirty="0"/>
              <a:t>loba</a:t>
            </a:r>
            <a:r>
              <a:rPr lang="en-US" dirty="0"/>
              <a:t>l</a:t>
            </a:r>
            <a:r>
              <a:rPr lang="en-BH" dirty="0"/>
              <a:t> progress since 1990</a:t>
            </a:r>
          </a:p>
        </p:txBody>
      </p:sp>
      <p:pic>
        <p:nvPicPr>
          <p:cNvPr id="9" name="Content Placeholder 8" descr="A graph showing a line of growth&#10;&#10;Description automatically generated with medium confidence">
            <a:extLst>
              <a:ext uri="{FF2B5EF4-FFF2-40B4-BE49-F238E27FC236}">
                <a16:creationId xmlns:a16="http://schemas.microsoft.com/office/drawing/2014/main" id="{0327ED63-A11C-2757-D1FE-8E5D5AE3D7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4889" y="1353308"/>
            <a:ext cx="10477623" cy="46908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2426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AAC8-0202-C496-0082-185CFEC2E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H" dirty="0"/>
              <a:t>Largest Life expectancy gains</a:t>
            </a:r>
          </a:p>
        </p:txBody>
      </p:sp>
      <p:pic>
        <p:nvPicPr>
          <p:cNvPr id="5" name="Content Placeholder 4" descr="A graph of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CF23BEE3-B938-2C3E-8B62-BB6E9CF65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9576" y="1404667"/>
            <a:ext cx="10012680" cy="44674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2681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0952D-CA3E-0256-07EC-6CB7AE67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H" dirty="0"/>
              <a:t>What caused the gap shrink?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63D7F-AF90-DB97-BDC4-BE70D6F4B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618489"/>
            <a:ext cx="10056927" cy="412394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BH" sz="2400" b="1" dirty="0">
                <a:solidFill>
                  <a:schemeClr val="accent3">
                    <a:lumMod val="75000"/>
                  </a:schemeClr>
                </a:solidFill>
              </a:rPr>
              <a:t>Immunization</a:t>
            </a:r>
            <a:r>
              <a:rPr lang="en-BH" sz="2400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en-BH" sz="2400" b="1" dirty="0"/>
              <a:t>Expanded vaccination </a:t>
            </a:r>
            <a:r>
              <a:rPr lang="en-BH" sz="2400" dirty="0"/>
              <a:t>reduced child mortality by </a:t>
            </a:r>
            <a:r>
              <a:rPr lang="en-BH" sz="2400" b="1" dirty="0"/>
              <a:t>over 50% </a:t>
            </a:r>
            <a:r>
              <a:rPr lang="en-BH" sz="2400" dirty="0"/>
              <a:t>in lower income regions since 2000 (Gavi, 2025)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BH" sz="2400" b="1" dirty="0">
                <a:solidFill>
                  <a:schemeClr val="accent3">
                    <a:lumMod val="75000"/>
                  </a:schemeClr>
                </a:solidFill>
              </a:rPr>
              <a:t>ART: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BH" sz="2400" dirty="0"/>
              <a:t>The wide </a:t>
            </a:r>
            <a:r>
              <a:rPr lang="en-BH" sz="2400" b="1" dirty="0"/>
              <a:t>availability of HIV medicine </a:t>
            </a:r>
            <a:r>
              <a:rPr lang="en-BH" sz="2400" dirty="0"/>
              <a:t>(ART), decreased the death rates from HIV complications, and thus increased the life expectancy (</a:t>
            </a:r>
            <a:r>
              <a:rPr lang="en-US" sz="2400" dirty="0"/>
              <a:t>UNAIDS Annual Report, 2025)</a:t>
            </a:r>
            <a:endParaRPr lang="en-BH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BH" sz="2400" b="1" dirty="0">
                <a:solidFill>
                  <a:schemeClr val="accent3">
                    <a:lumMod val="75000"/>
                  </a:schemeClr>
                </a:solidFill>
              </a:rPr>
              <a:t>Conflict Resolution: </a:t>
            </a:r>
            <a:r>
              <a:rPr lang="en-BH" sz="2400" b="1" dirty="0"/>
              <a:t>Peace and stability </a:t>
            </a:r>
            <a:r>
              <a:rPr lang="en-BH" sz="2400" dirty="0"/>
              <a:t>in conflict area reduced the </a:t>
            </a:r>
            <a:r>
              <a:rPr lang="en-US" sz="2400" dirty="0"/>
              <a:t>fatalities, allowed for healthcare development thus increased the life expectancy.</a:t>
            </a:r>
            <a:r>
              <a:rPr lang="en-BH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9960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1591DF-BFCD-79A3-6136-A6C3CE573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Freeform 6">
            <a:extLst>
              <a:ext uri="{FF2B5EF4-FFF2-40B4-BE49-F238E27FC236}">
                <a16:creationId xmlns:a16="http://schemas.microsoft.com/office/drawing/2014/main" id="{BB8C1D0E-0B06-46C9-A8BD-A8E13FF99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7D1ADC4A-8537-4084-99C7-F8D378A64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D9453AC2-8882-459A-8985-3E24DD42A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4543" y="0"/>
            <a:ext cx="1196771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Médecins Sans Frontières OCBA — Branding Guidelines 2.0">
            <a:extLst>
              <a:ext uri="{FF2B5EF4-FFF2-40B4-BE49-F238E27FC236}">
                <a16:creationId xmlns:a16="http://schemas.microsoft.com/office/drawing/2014/main" id="{625D6339-2890-AF57-B9F6-3F8AF00BC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9"/>
          <a:stretch>
            <a:fillRect/>
          </a:stretch>
        </p:blipFill>
        <p:spPr bwMode="auto">
          <a:xfrm>
            <a:off x="264543" y="10"/>
            <a:ext cx="1196771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0F732C-99D1-4575-F46A-8B0CEBF0B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963" y="1626708"/>
            <a:ext cx="10318418" cy="43949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br>
              <a:rPr lang="en-US" sz="5500" spc="800" dirty="0">
                <a:solidFill>
                  <a:srgbClr val="FFFFFF"/>
                </a:solidFill>
              </a:rPr>
            </a:br>
            <a:br>
              <a:rPr lang="en-US" sz="5500" spc="800" dirty="0">
                <a:solidFill>
                  <a:srgbClr val="FFFFFF"/>
                </a:solidFill>
              </a:rPr>
            </a:br>
            <a:br>
              <a:rPr lang="en-US" sz="5500" spc="800" dirty="0">
                <a:solidFill>
                  <a:srgbClr val="FFFFFF"/>
                </a:solidFill>
              </a:rPr>
            </a:br>
            <a:br>
              <a:rPr lang="en-US" sz="5500" spc="800" dirty="0">
                <a:solidFill>
                  <a:srgbClr val="FFFFFF"/>
                </a:solidFill>
              </a:rPr>
            </a:br>
            <a:r>
              <a:rPr lang="en-US" sz="5500" spc="800" dirty="0">
                <a:solidFill>
                  <a:srgbClr val="FFFFFF"/>
                </a:solidFill>
              </a:rPr>
              <a:t>now it is your turn</a:t>
            </a:r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D4A11FEA-6E98-401C-B708-DA2C95081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6454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936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EC6F6-412B-0178-3E24-35D22CEA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4"/>
            <a:ext cx="10242330" cy="1693303"/>
          </a:xfrm>
        </p:spPr>
        <p:txBody>
          <a:bodyPr>
            <a:normAutofit/>
          </a:bodyPr>
          <a:lstStyle/>
          <a:p>
            <a:r>
              <a:rPr lang="en-BH" sz="5400" dirty="0"/>
              <a:t>Recom</a:t>
            </a:r>
            <a:r>
              <a:rPr lang="en-US" sz="5400" dirty="0"/>
              <a:t>m</a:t>
            </a:r>
            <a:r>
              <a:rPr lang="en-BH" sz="5400" dirty="0"/>
              <a:t>endations </a:t>
            </a:r>
            <a:br>
              <a:rPr lang="en-US" sz="5400" dirty="0"/>
            </a:br>
            <a:r>
              <a:rPr lang="en-BH" sz="5400" dirty="0"/>
              <a:t>to </a:t>
            </a:r>
            <a:r>
              <a:rPr lang="en-US" sz="5400" dirty="0"/>
              <a:t>further </a:t>
            </a:r>
            <a:r>
              <a:rPr lang="en-BH" sz="5400" dirty="0"/>
              <a:t>close the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EF169-4CD1-DA93-2236-117F119A5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075687"/>
            <a:ext cx="10178322" cy="43159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BH" b="1" dirty="0">
                <a:solidFill>
                  <a:schemeClr val="accent3">
                    <a:lumMod val="75000"/>
                  </a:schemeClr>
                </a:solidFill>
              </a:rPr>
              <a:t>Health infrastructure investment: </a:t>
            </a:r>
            <a:r>
              <a:rPr lang="en-BH" b="1" dirty="0"/>
              <a:t>Direct investments </a:t>
            </a:r>
            <a:r>
              <a:rPr lang="en-BH" dirty="0"/>
              <a:t>toward </a:t>
            </a:r>
            <a:r>
              <a:rPr lang="en-US" dirty="0"/>
              <a:t>the healthcare of lowest life expectancy countries, such as the Suburban and Southern parts of Africa</a:t>
            </a:r>
            <a:r>
              <a:rPr lang="en-BH" dirty="0"/>
              <a:t>.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Maternal and Child Health: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P</a:t>
            </a:r>
            <a:r>
              <a:rPr lang="en-US" b="1" dirty="0"/>
              <a:t>rioritize</a:t>
            </a:r>
            <a:r>
              <a:rPr lang="en-US" dirty="0"/>
              <a:t> reducing </a:t>
            </a:r>
            <a:r>
              <a:rPr lang="en-US" b="1" dirty="0"/>
              <a:t>high mortality rates </a:t>
            </a:r>
            <a:r>
              <a:rPr lang="en-US" dirty="0"/>
              <a:t>by providing skilled </a:t>
            </a:r>
            <a:r>
              <a:rPr lang="en-US" b="1" dirty="0"/>
              <a:t>birth attendance </a:t>
            </a:r>
            <a:r>
              <a:rPr lang="en-US" dirty="0"/>
              <a:t>and </a:t>
            </a:r>
            <a:r>
              <a:rPr lang="en-US" b="1" dirty="0"/>
              <a:t>emergency neonatal care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BH" b="1" dirty="0">
                <a:solidFill>
                  <a:schemeClr val="accent3">
                    <a:lumMod val="75000"/>
                  </a:schemeClr>
                </a:solidFill>
              </a:rPr>
              <a:t>Economic Linkages:</a:t>
            </a:r>
            <a:r>
              <a:rPr lang="en-BH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BH" b="1" dirty="0"/>
              <a:t>GNI</a:t>
            </a:r>
            <a:r>
              <a:rPr lang="en-BH" dirty="0"/>
              <a:t> and </a:t>
            </a:r>
            <a:r>
              <a:rPr lang="en-BH" b="1" dirty="0"/>
              <a:t>Life Expectancy </a:t>
            </a:r>
            <a:r>
              <a:rPr lang="en-BH" dirty="0"/>
              <a:t>have a </a:t>
            </a:r>
            <a:r>
              <a:rPr lang="en-BH" b="1" dirty="0"/>
              <a:t>0.9 correlation</a:t>
            </a:r>
            <a:r>
              <a:rPr lang="en-BH" dirty="0"/>
              <a:t>. </a:t>
            </a:r>
            <a:r>
              <a:rPr lang="en-BH" b="1" dirty="0"/>
              <a:t>Supporting low income regions </a:t>
            </a:r>
            <a:r>
              <a:rPr lang="en-BH" dirty="0"/>
              <a:t>economically will increase Life Expectancy among them.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Mobile Clinics: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b="1" dirty="0"/>
              <a:t>MSF</a:t>
            </a:r>
            <a:r>
              <a:rPr lang="en-US" dirty="0"/>
              <a:t> already operate </a:t>
            </a:r>
            <a:r>
              <a:rPr lang="en-US" b="1" dirty="0"/>
              <a:t>mobile units </a:t>
            </a:r>
            <a:r>
              <a:rPr lang="en-US" dirty="0"/>
              <a:t>that provide care across borders, you could deploy more to </a:t>
            </a:r>
            <a:r>
              <a:rPr lang="en-US" b="1" dirty="0"/>
              <a:t>reach vulnerable and displaced populations</a:t>
            </a:r>
            <a:r>
              <a:rPr lang="en-US" dirty="0"/>
              <a:t>.</a:t>
            </a:r>
            <a:endParaRPr lang="en-BH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BH" dirty="0"/>
          </a:p>
        </p:txBody>
      </p:sp>
    </p:spTree>
    <p:extLst>
      <p:ext uri="{BB962C8B-B14F-4D97-AF65-F5344CB8AC3E}">
        <p14:creationId xmlns:p14="http://schemas.microsoft.com/office/powerpoint/2010/main" val="2832173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CBBE-CD25-10D4-EDDD-C71F4FA7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4"/>
            <a:ext cx="10178322" cy="5218315"/>
          </a:xfrm>
        </p:spPr>
        <p:txBody>
          <a:bodyPr/>
          <a:lstStyle/>
          <a:p>
            <a:pPr algn="ctr"/>
            <a:br>
              <a:rPr lang="en-BH" dirty="0"/>
            </a:br>
            <a:br>
              <a:rPr lang="en-BH" dirty="0"/>
            </a:br>
            <a:br>
              <a:rPr lang="en-BH" dirty="0"/>
            </a:br>
            <a:br>
              <a:rPr lang="en-BH" dirty="0"/>
            </a:br>
            <a:r>
              <a:rPr lang="en-BH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75703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BEA77-59E7-7424-0FC4-53B20A1F3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AB433-B55E-085C-CD4F-43E72E761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4"/>
            <a:ext cx="10242330" cy="1693303"/>
          </a:xfrm>
        </p:spPr>
        <p:txBody>
          <a:bodyPr>
            <a:normAutofit/>
          </a:bodyPr>
          <a:lstStyle/>
          <a:p>
            <a:r>
              <a:rPr lang="en-US" sz="5400" dirty="0"/>
              <a:t>Sources</a:t>
            </a:r>
            <a:endParaRPr lang="en-BH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18C58-7AAA-1C04-F9E3-AE4CB5C74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075687"/>
            <a:ext cx="10178322" cy="43159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hlinkClick r:id="rId2"/>
              </a:rPr>
              <a:t>https://www.who.int/news/item/28-03-2025-fully-funded-gavi--the-vaccine-alliance--is-a-lifeline-for-child-survival--says-who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hlinkClick r:id="rId3"/>
              </a:rPr>
              <a:t>https://www.unaids.org/sites/default/files/2025-07/2025-global-aids-update-JC3153_en.pdf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BH" dirty="0">
                <a:hlinkClick r:id="rId4"/>
              </a:rPr>
              <a:t>https://www.msf.org/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BH" dirty="0"/>
          </a:p>
        </p:txBody>
      </p:sp>
    </p:spTree>
    <p:extLst>
      <p:ext uri="{BB962C8B-B14F-4D97-AF65-F5344CB8AC3E}">
        <p14:creationId xmlns:p14="http://schemas.microsoft.com/office/powerpoint/2010/main" val="2705249906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2795</TotalTime>
  <Words>435</Words>
  <Application>Microsoft Office PowerPoint</Application>
  <PresentationFormat>Widescreen</PresentationFormat>
  <Paragraphs>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Gill Sans MT</vt:lpstr>
      <vt:lpstr>Impact</vt:lpstr>
      <vt:lpstr>Wingdings</vt:lpstr>
      <vt:lpstr>Badge</vt:lpstr>
      <vt:lpstr>The Global health-wealth gap</vt:lpstr>
      <vt:lpstr>The problem</vt:lpstr>
      <vt:lpstr>You, the audience</vt:lpstr>
      <vt:lpstr>    the life expectancy divide</vt:lpstr>
      <vt:lpstr>Life Expectancy by income status</vt:lpstr>
      <vt:lpstr>Life Expectancy gap</vt:lpstr>
      <vt:lpstr>These countries are in need</vt:lpstr>
      <vt:lpstr>    there is some good news</vt:lpstr>
      <vt:lpstr>Global progress since 1990</vt:lpstr>
      <vt:lpstr>Largest Life expectancy gains</vt:lpstr>
      <vt:lpstr>What caused the gap shrink?</vt:lpstr>
      <vt:lpstr>    now it is your turn</vt:lpstr>
      <vt:lpstr>Recommendations  to further close the gap</vt:lpstr>
      <vt:lpstr>    Questions?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HASAN JAAFAR MEFTAH</dc:creator>
  <cp:lastModifiedBy>a29825</cp:lastModifiedBy>
  <cp:revision>10</cp:revision>
  <dcterms:created xsi:type="dcterms:W3CDTF">2025-05-14T18:45:33Z</dcterms:created>
  <dcterms:modified xsi:type="dcterms:W3CDTF">2026-05-06T15:40:39Z</dcterms:modified>
</cp:coreProperties>
</file>